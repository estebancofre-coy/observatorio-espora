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F5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188720"/>
            <a:ext cx="1463040" cy="146304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651760"/>
            <a:ext cx="822960" cy="82296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3291840"/>
            <a:ext cx="502920" cy="50292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206240"/>
            <a:ext cx="1143000" cy="114300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5212080"/>
            <a:ext cx="640080" cy="64008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7315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9FD3D0"/>
                </a:solidFill>
                <a:latin typeface="Arial"/>
              </a:rPr>
              <a:t>PROYECTO ESPORA · COYHAIQUE, AYSÉN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Entornos Alimentarios en Coyhaique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D8EAE8"/>
                </a:solidFill>
                <a:latin typeface="Arial"/>
              </a:rPr>
              <a:t>Observación territorial de almacenes de barrio y minimarkets: disponibilidad, precios y origen de los alimentos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7132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Investigación original: PhD. Ana Zazo Moratalla, Universidad Rey Juan Carlos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Aplicación: Dr. Esteban Cofré-Morales, Universidad de Aysén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Marco de referencia alimentaria: FAO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7132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FD3D0"/>
                </a:solidFill>
                <a:latin typeface="Arial"/>
              </a:rPr>
              <a:t>ESPORA: Economía Social, Precios, Orgánicos, Residuos y Alimentación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¿Qué alimentos están al alcance del barrio?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669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 i="0">
                <a:solidFill>
                  <a:srgbClr val="183346"/>
                </a:solidFill>
                <a:latin typeface="Arial"/>
              </a:rPr>
              <a:t>El comercio de proximidad define buena parte del entorno alimentario cotidiano. Este estudio observa, local por local, qué se ofrece, a qué precio y de dónde viene.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 i="0">
                <a:solidFill>
                  <a:srgbClr val="183346"/>
                </a:solidFill>
                <a:latin typeface="Arial"/>
              </a:rPr>
              <a:t>El objetivo es describir los entornos alimentarios de Coyhaique a escala de unidad vecinal y aportar evidencia para la planificación urbana y la Economía Social y Solidaria (ESS).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783080"/>
            <a:ext cx="45262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783080"/>
            <a:ext cx="452628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57400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Disponibilidad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560320"/>
            <a:ext cx="3977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¿Qué alimentos y preparaciones saludables y no saludables se ofrecen?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246120"/>
            <a:ext cx="45262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3246120"/>
            <a:ext cx="452628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520440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Precio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023360"/>
            <a:ext cx="3977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¿Cuál es el rango de precios, del más bajo al más alto, de una canasta definida?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709160"/>
            <a:ext cx="45262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4709160"/>
            <a:ext cx="452628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983480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Origen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486400"/>
            <a:ext cx="3977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¿Qué proporción de proteínas, lácteos y huevos proviene del territorio?</a:t>
            </a:r>
          </a:p>
        </p:txBody>
      </p:sp>
      <p:pic>
        <p:nvPicPr>
          <p:cNvPr id="21" name="Picture 20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Marco de referencia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3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47472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Entornos alimentarios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292608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La FAO entiende el entorno alimentario como el espacio donde las personas acceden a los alimentos y deciden qué comer; influir en él es una vía para dietas saludables.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(Food and Agriculture Organization of the United Nations [FAO], 2016)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82880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828800"/>
            <a:ext cx="347472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Resiliencia alimentaria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06040"/>
            <a:ext cx="292608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La planificación urbana puede evaluar la seguridad y la resiliencia alimentaria de las ciudades chilenas con indicadores territoriales.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(Zazo-Moratalla &amp; Orellana-McBride, 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182880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828800"/>
            <a:ext cx="347472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Pautas de observación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606040"/>
            <a:ext cx="292608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Las pautas de ambientes alimentarios desarrolladas en la Universidad del Bío-Bío orientan el registro de disponibilidad en puntos de venta.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(Araneda-Flores et al., 2024)</a:t>
            </a:r>
          </a:p>
        </p:txBody>
      </p:sp>
      <p:pic>
        <p:nvPicPr>
          <p:cNvPr id="20" name="Picture 19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IDENTIDAD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La espora como metáfora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4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4290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42900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Dispersión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288036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El levantamiento se distribuye por las 34 unidades vecinales, con equipos que trabajan en paralelo.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920240"/>
            <a:ext cx="34290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920240"/>
            <a:ext cx="342900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945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Resistencia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97480"/>
            <a:ext cx="288036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Los datos sobreviven sin conexión: cada ficha se guarda en el dispositivo hasta sincronizar.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1920240"/>
            <a:ext cx="34290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920240"/>
            <a:ext cx="342900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1945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Regeneración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697480"/>
            <a:ext cx="288036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El conocimiento vuelve al territorio: compostaje, circuitos cortos y ESS como horizonte de uso.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ESPORA reúne Economía Social, Precios, Orgánicos, Residuos y Alimentación en una sola mirada territorial.</a:t>
            </a:r>
          </a:p>
        </p:txBody>
      </p:sp>
      <p:pic>
        <p:nvPicPr>
          <p:cNvPr id="21" name="Picture 20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Territorio y muestra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 i="0">
                <a:solidFill>
                  <a:srgbClr val="0F7180"/>
                </a:solidFill>
                <a:latin typeface="Arial"/>
              </a:rPr>
              <a:t>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83346"/>
                </a:solidFill>
                <a:latin typeface="Arial"/>
              </a:rPr>
              <a:t>locales en la muestra sugerida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182880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 i="0">
                <a:solidFill>
                  <a:srgbClr val="0F7180"/>
                </a:solidFill>
                <a:latin typeface="Arial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971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83346"/>
                </a:solidFill>
                <a:latin typeface="Arial"/>
              </a:rPr>
              <a:t>unidades vecinales de la comuna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182880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400" b="1" i="0">
                <a:solidFill>
                  <a:srgbClr val="0F7180"/>
                </a:solidFill>
                <a:latin typeface="Arial"/>
              </a:rPr>
              <a:t>216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2971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83346"/>
                </a:solidFill>
                <a:latin typeface="Arial"/>
              </a:rPr>
              <a:t>puntos en la capa KML de locales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698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Cada local de la muestra se asigna a una unidad vecinal a partir de sus coordenadas, con los polígonos de unidades vecinales del Censo 2017 (Ministerio de Desarrollo Social y Familia, s.f.).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La muestra y la capa de locales por subcategoría son materiales del proyecto (Proyecto ESPORA, 2026a, 2026c). Los límites censales pueden diferir de la división municipal vigente: los puntos cercanos a un borde se validan en terreno.</a:t>
            </a:r>
          </a:p>
        </p:txBody>
      </p:sp>
      <p:pic>
        <p:nvPicPr>
          <p:cNvPr id="15" name="Picture 14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INSTRUMENTOS EN TERRENO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Cinco fichas, una visita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6 / 11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221992"/>
            <a:ext cx="1325880" cy="36576"/>
          </a:xfrm>
          <a:prstGeom prst="rect">
            <a:avLst/>
          </a:prstGeom>
          <a:solidFill>
            <a:srgbClr val="D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Identificación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965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Local, UV, coordenadas, persona recolectora y foto del frontis.</a:t>
            </a:r>
          </a:p>
        </p:txBody>
      </p:sp>
      <p:sp>
        <p:nvSpPr>
          <p:cNvPr id="13" name="Oval 12"/>
          <p:cNvSpPr/>
          <p:nvPr/>
        </p:nvSpPr>
        <p:spPr>
          <a:xfrm>
            <a:off x="2916936" y="1920240"/>
            <a:ext cx="640080" cy="64008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1920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8456" y="2221992"/>
            <a:ext cx="1325880" cy="36576"/>
          </a:xfrm>
          <a:prstGeom prst="rect">
            <a:avLst/>
          </a:prstGeom>
          <a:solidFill>
            <a:srgbClr val="D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2788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Clasificación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3291840"/>
            <a:ext cx="1965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Atención y surtido: almacén de barrio o minimarket.</a:t>
            </a:r>
          </a:p>
        </p:txBody>
      </p:sp>
      <p:sp>
        <p:nvSpPr>
          <p:cNvPr id="18" name="Oval 17"/>
          <p:cNvSpPr/>
          <p:nvPr/>
        </p:nvSpPr>
        <p:spPr>
          <a:xfrm>
            <a:off x="5102352" y="1920240"/>
            <a:ext cx="640080" cy="64008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920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33872" y="2221992"/>
            <a:ext cx="1325880" cy="36576"/>
          </a:xfrm>
          <a:prstGeom prst="rect">
            <a:avLst/>
          </a:prstGeom>
          <a:solidFill>
            <a:srgbClr val="D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2788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Disponibilidad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291840"/>
            <a:ext cx="1965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Pauta de alimentos y preparaciones saludables y no saludables.</a:t>
            </a:r>
          </a:p>
        </p:txBody>
      </p:sp>
      <p:sp>
        <p:nvSpPr>
          <p:cNvPr id="23" name="Oval 22"/>
          <p:cNvSpPr/>
          <p:nvPr/>
        </p:nvSpPr>
        <p:spPr>
          <a:xfrm>
            <a:off x="7287768" y="1920240"/>
            <a:ext cx="640080" cy="64008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1920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2221992"/>
            <a:ext cx="1325880" cy="36576"/>
          </a:xfrm>
          <a:prstGeom prst="rect">
            <a:avLst/>
          </a:prstGeom>
          <a:solidFill>
            <a:srgbClr val="D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2788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Precios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3291840"/>
            <a:ext cx="1965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Canasta de 28 productos: precio más bajo y más alto (Proyecto ESPORA, 2026b).</a:t>
            </a:r>
          </a:p>
        </p:txBody>
      </p:sp>
      <p:sp>
        <p:nvSpPr>
          <p:cNvPr id="28" name="Oval 27"/>
          <p:cNvSpPr/>
          <p:nvPr/>
        </p:nvSpPr>
        <p:spPr>
          <a:xfrm>
            <a:off x="9473184" y="1920240"/>
            <a:ext cx="640080" cy="640080"/>
          </a:xfrm>
          <a:prstGeom prst="ellipse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4" y="1920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2788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Origen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3291840"/>
            <a:ext cx="1965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Carnes, pescado, lácteos y huevos: ¿local o externo?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83346"/>
                </a:solidFill>
                <a:latin typeface="Arial"/>
              </a:rPr>
              <a:t>Todas las fichas comparten un ID de visita; cada instrumento se guarda por separado y puede retomarse.</a:t>
            </a:r>
          </a:p>
        </p:txBody>
      </p:sp>
      <p:pic>
        <p:nvPicPr>
          <p:cNvPr id="33" name="Picture 32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REGLA DE CLASIFICACIÓN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¿Almacén de barrio o minimarket?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7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291840" cy="4023360"/>
          </a:xfrm>
          <a:prstGeom prst="rect">
            <a:avLst/>
          </a:prstGeom>
          <a:solidFill>
            <a:srgbClr val="18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9FD3D0"/>
                </a:solidFill>
                <a:latin typeface="Arial"/>
              </a:rPr>
              <a:t>CONDICIÓN OBLIGATORIA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Autoservicio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743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D8EAE8"/>
                </a:solidFill>
                <a:latin typeface="Arial"/>
              </a:rPr>
              <a:t>El cliente toma los productos por sí mismo. Si todo se pide tras el mesón, es almacén de barrio.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83346"/>
                </a:solidFill>
                <a:latin typeface="Arial"/>
              </a:rPr>
              <a:t>…y al menos 2 de estos 3 criterios: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68880"/>
            <a:ext cx="70408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60604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Frutas y verduras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0604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Más de 10 variedades distintas (11 o más).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566160"/>
            <a:ext cx="70408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70332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Proteínas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70332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Al menos 2 categorías: vacuno, cerdo, pollo, cordero, pescados o mariscos.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663440"/>
            <a:ext cx="70408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80060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Lácteos y huevos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80060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3F5966"/>
                </a:solidFill>
                <a:latin typeface="Arial"/>
              </a:rPr>
              <a:t>Oferta habitual de ambos.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5966"/>
                </a:solidFill>
                <a:latin typeface="Arial"/>
              </a:rPr>
              <a:t>La preclasificación de la muestra no se muestra en terreno para no sesgar la observación.</a:t>
            </a:r>
          </a:p>
        </p:txBody>
      </p:sp>
      <p:pic>
        <p:nvPicPr>
          <p:cNvPr id="23" name="Picture 22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FLUJO DE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Del local a la base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8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9202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92024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Dispositivo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5966"/>
                </a:solidFill>
                <a:latin typeface="Arial"/>
              </a:rPr>
              <a:t>Formulario web en el teléfono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79192" y="3063240"/>
            <a:ext cx="256032" cy="274320"/>
          </a:xfrm>
          <a:prstGeom prst="rightArrow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3512" y="2103120"/>
            <a:ext cx="19202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3512" y="2103120"/>
            <a:ext cx="192024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2377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Cola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8803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5966"/>
                </a:solidFill>
                <a:latin typeface="Arial"/>
              </a:rPr>
              <a:t>Respaldo sin conexión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01184" y="3063240"/>
            <a:ext cx="256032" cy="274320"/>
          </a:xfrm>
          <a:prstGeom prst="rightArrow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75504" y="2103120"/>
            <a:ext cx="19202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103120"/>
            <a:ext cx="192024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2377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Apps 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8803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5966"/>
                </a:solidFill>
                <a:latin typeface="Arial"/>
              </a:rPr>
              <a:t>Valida y clasifica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6" y="3063240"/>
            <a:ext cx="256032" cy="274320"/>
          </a:xfrm>
          <a:prstGeom prst="rightArrow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2103120"/>
            <a:ext cx="19202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97496" y="2103120"/>
            <a:ext cx="192024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2377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Google Sheets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8803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5966"/>
                </a:solidFill>
                <a:latin typeface="Arial"/>
              </a:rPr>
              <a:t>Visitas, Clasificación, Disponibilidad, Precios, Origen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45168" y="3063240"/>
            <a:ext cx="256032" cy="274320"/>
          </a:xfrm>
          <a:prstGeom prst="rightArrow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9488" y="2103120"/>
            <a:ext cx="1920240" cy="2194560"/>
          </a:xfrm>
          <a:prstGeom prst="rect">
            <a:avLst/>
          </a:prstGeom>
          <a:solidFill>
            <a:srgbClr val="E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9488" y="2103120"/>
            <a:ext cx="192024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2377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0F5D74"/>
                </a:solidFill>
                <a:latin typeface="Arial"/>
              </a:rPr>
              <a:t>Mapa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2880360"/>
            <a:ext cx="160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5966"/>
                </a:solidFill>
                <a:latin typeface="Arial"/>
              </a:rPr>
              <a:t>Consolidación y KML por UV (en diseño)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3F5966"/>
                </a:solidFill>
                <a:latin typeface="Arial"/>
              </a:rPr>
              <a:t>El backend vuelve a validar cada envío y calcula la clasificación con la misma regla que la aplicación.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3F5966"/>
                </a:solidFill>
                <a:latin typeface="Arial"/>
              </a:rPr>
              <a:t>Los códigos de locales nuevos incluyen las iniciales de quien registra (por ejemplo, LM108NMB) para evitar duplicados entre equipos.</a:t>
            </a:r>
          </a:p>
        </p:txBody>
      </p:sp>
      <p:pic>
        <p:nvPicPr>
          <p:cNvPr id="33" name="Picture 32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Calidad de datos desde el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2578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5780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Observación sin sesgo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470916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5966"/>
                </a:solidFill>
                <a:latin typeface="Arial"/>
              </a:rPr>
              <a:t>El tipo registrado en la muestra no aparece en pantalla; la categoría la decide lo observado.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2578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5780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Autocapacitación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470916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5966"/>
                </a:solidFill>
                <a:latin typeface="Arial"/>
              </a:rPr>
              <a:t>Guía con simulador y casos de práctica antes de salir a terreno.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52578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25780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Estructura estable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470916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5966"/>
                </a:solidFill>
                <a:latin typeface="Arial"/>
              </a:rPr>
              <a:t>Las columnas nuevas se anexan al final; nunca se borran datos ni encabezados.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25780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257800" cy="54864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F5D74"/>
                </a:solidFill>
                <a:latin typeface="Arial"/>
              </a:rPr>
              <a:t>Trazabilidad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470916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5966"/>
                </a:solidFill>
                <a:latin typeface="Arial"/>
              </a:rPr>
              <a:t>ID de visita común, fotos en Drive y justificación obligatoria ante correcciones manuales.</a:t>
            </a:r>
          </a:p>
        </p:txBody>
      </p:sp>
      <p:pic>
        <p:nvPicPr>
          <p:cNvPr id="24" name="Picture 23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Estado y 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F5D74"/>
                </a:solidFill>
                <a:latin typeface="Arial"/>
              </a:rPr>
              <a:t>En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1206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Levantamiento en terreno por unidad vecinal.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Registro de locales nuevos no incluidos en la muestra.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Capacitación de estudiantes y profesionales de apoyo.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F5D74"/>
                </a:solidFill>
                <a:latin typeface="Arial"/>
              </a:rPr>
              <a:t>Siguiente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1206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Hoja maestra de locales vigentes con su clasificación observada.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Exportación KML/GeoJSON para mapas por UV y por tipo de local.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Análisis de disponibilidad, precios y origen por territorio.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3F5966"/>
                </a:solidFill>
                <a:latin typeface="Arial"/>
              </a:rPr>
              <a:t>Validación metodológica de las definiciones de conteo.</a:t>
            </a:r>
          </a:p>
        </p:txBody>
      </p:sp>
      <p:pic>
        <p:nvPicPr>
          <p:cNvPr id="12" name="Picture 11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0F7180"/>
                </a:solidFill>
                <a:latin typeface="Arial"/>
              </a:rPr>
              <a:t>APA 7.ª EDICIÓN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83346"/>
                </a:solidFill>
                <a:latin typeface="Arial"/>
              </a:rPr>
              <a:t>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Entornos Alimentarios en Coyhaique · Proyecto ESPORA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3F5966"/>
                </a:solidFill>
                <a:latin typeface="Arial"/>
              </a:rP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899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Araneda-Flores, J., Toledo, Á., Inzunza, C., Córdova, C., &amp; Pinheiro, A. C. (2024). Ambiente alimentario alrededor de establecimientos educacionales municipalizados de la ciudad de Chillán.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Revista Chilena de Nutrición, 51</a:t>
            </a:r>
            <a:r>
              <a:rPr sz="1300" b="0" i="0">
                <a:solidFill>
                  <a:srgbClr val="183346"/>
                </a:solidFill>
                <a:latin typeface="Arial"/>
              </a:rPr>
              <a:t>(6), 446–452. https://doi.org/10.4067/s0717-75182024000600446</a:t>
            </a:r>
          </a:p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Cofré-Morales, E. (2026).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ESPORA Coyhaique: Plataforma de levantamiento de entornos alimentarios</a:t>
            </a:r>
            <a:r>
              <a:rPr sz="1300" b="0" i="0">
                <a:solidFill>
                  <a:srgbClr val="183346"/>
                </a:solidFill>
                <a:latin typeface="Arial"/>
              </a:rPr>
              <a:t> [Aplicación web]. Universidad de Aysén. https://estebancofre-coy.github.io/observatorio-espora/</a:t>
            </a:r>
          </a:p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Food and Agriculture Organization of the United Nations. (2016).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Influencing food environments for healthy diets</a:t>
            </a:r>
            <a:r>
              <a:rPr sz="1300" b="0" i="0">
                <a:solidFill>
                  <a:srgbClr val="183346"/>
                </a:solidFill>
                <a:latin typeface="Arial"/>
              </a:rPr>
              <a:t>. https://openknowledge.fao.org/handle/20.500.14283/i6484en</a:t>
            </a:r>
          </a:p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Ministerio de Desarrollo Social y Familia. (s.f.).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Unidades vecinales</a:t>
            </a:r>
            <a:r>
              <a:rPr sz="1300" b="0" i="0">
                <a:solidFill>
                  <a:srgbClr val="183346"/>
                </a:solidFill>
                <a:latin typeface="Arial"/>
              </a:rPr>
              <a:t> [Conjunto de datos geoespaciales]. Infraestructura de Datos Espaciales de Chile. https://www.geoportal.cl/geoportal/catalog/36395/Unidades%20vecinales</a:t>
            </a:r>
          </a:p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Proyecto ESPORA. (2026a).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Locales manuales por subcategoría</a:t>
            </a:r>
            <a:r>
              <a:rPr sz="1300" b="0" i="0">
                <a:solidFill>
                  <a:srgbClr val="183346"/>
                </a:solidFill>
                <a:latin typeface="Arial"/>
              </a:rPr>
              <a:t> [Conjunto de datos no publicado, KML]. Universidad de Aysén.</a:t>
            </a:r>
          </a:p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Proyecto ESPORA. (2026b).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Matriz de recolección de precios de Coyhaique</a:t>
            </a:r>
            <a:r>
              <a:rPr sz="1300" b="0" i="0">
                <a:solidFill>
                  <a:srgbClr val="183346"/>
                </a:solidFill>
                <a:latin typeface="Arial"/>
              </a:rPr>
              <a:t> [Conjunto de datos no publicado]. Universidad de Aysén.</a:t>
            </a:r>
          </a:p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Proyecto ESPORA. (2026c).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Muestra de locales de Coyhaique</a:t>
            </a:r>
            <a:r>
              <a:rPr sz="1300" b="0" i="0">
                <a:solidFill>
                  <a:srgbClr val="183346"/>
                </a:solidFill>
                <a:latin typeface="Arial"/>
              </a:rPr>
              <a:t> [Conjunto de datos no publicado]. Universidad de Aysén.</a:t>
            </a:r>
          </a:p>
          <a:p>
            <a:pPr algn="l" marL="457200" indent="-457200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83346"/>
                </a:solidFill>
                <a:latin typeface="Arial"/>
              </a:rPr>
              <a:t>Zazo-Moratalla, A., &amp; Orellana-McBride, A. (2025). How to assess urban food resilience? Moving towards food security in Chilean cities. </a:t>
            </a:r>
            <a:r>
              <a:rPr sz="1300" b="0" i="1">
                <a:solidFill>
                  <a:srgbClr val="183346"/>
                </a:solidFill>
                <a:latin typeface="Arial"/>
              </a:rPr>
              <a:t>Sustainability, 17</a:t>
            </a:r>
            <a:r>
              <a:rPr sz="1300" b="0" i="0">
                <a:solidFill>
                  <a:srgbClr val="183346"/>
                </a:solidFill>
                <a:latin typeface="Arial"/>
              </a:rPr>
              <a:t>(17), Artículo 7924. https://doi.org/10.3390/su17177924</a:t>
            </a:r>
          </a:p>
        </p:txBody>
      </p:sp>
      <p:pic>
        <p:nvPicPr>
          <p:cNvPr id="9" name="Picture 8" descr="logo-uay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11480"/>
            <a:ext cx="143266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Entornos Alimentarios en Coyhaique</dc:title>
  <dc:subject>Proyecto ESPORA: entornos alimentarios, precios y origen de alimentos en Coyhaique</dc:subject>
  <dc:creator>Ana Zazo Moratalla; Esteban Cofré-Morales</dc:creator>
  <cp:keywords>entornos alimentarios; Coyhaique; Aysén; ESPORA; Economía Social y Solidaria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